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62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731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INTERNSHIP PROJECT  2026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 and Process Optimization of Bar and Rod Mill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26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Bhilai Steel Plant, SAIL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91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period: 22 June 2026 to 18 July 2026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355080" y="63093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7B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355080" y="868680"/>
            <a:ext cx="2468880" cy="1330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dirty="0">
                <a:solidFill>
                  <a:schemeClr val="bg1"/>
                </a:solidFill>
              </a:rPr>
              <a:t>Anshika Pandey , 23120016</a:t>
            </a:r>
            <a:br>
              <a:rPr lang="en-US" sz="1300" dirty="0">
                <a:solidFill>
                  <a:schemeClr val="bg1"/>
                </a:solidFill>
              </a:rPr>
            </a:br>
            <a:r>
              <a:rPr lang="en-US" sz="1300" dirty="0">
                <a:solidFill>
                  <a:schemeClr val="bg1"/>
                </a:solidFill>
              </a:rPr>
              <a:t>Naval Deshpande, 23120053</a:t>
            </a:r>
            <a:br>
              <a:rPr lang="en-US" sz="1300" dirty="0">
                <a:solidFill>
                  <a:schemeClr val="bg1"/>
                </a:solidFill>
              </a:rPr>
            </a:br>
            <a:r>
              <a:rPr lang="en-US" sz="1300" dirty="0">
                <a:solidFill>
                  <a:schemeClr val="bg1"/>
                </a:solidFill>
              </a:rPr>
              <a:t>Ojas Pandey, 23120059</a:t>
            </a:r>
            <a:br>
              <a:rPr lang="en-US" sz="1300" dirty="0">
                <a:solidFill>
                  <a:schemeClr val="bg1"/>
                </a:solidFill>
              </a:rPr>
            </a:br>
            <a:r>
              <a:rPr lang="en-US" sz="1300" dirty="0">
                <a:solidFill>
                  <a:schemeClr val="bg1"/>
                </a:solidFill>
              </a:rPr>
              <a:t>Chirag Singhal, 23120031</a:t>
            </a:r>
            <a:br>
              <a:rPr lang="en-US" sz="1300" dirty="0">
                <a:solidFill>
                  <a:schemeClr val="bg1"/>
                </a:solidFill>
              </a:rPr>
            </a:br>
            <a:r>
              <a:rPr lang="en-US" sz="1300" dirty="0">
                <a:solidFill>
                  <a:schemeClr val="bg1"/>
                </a:solidFill>
              </a:rPr>
              <a:t>Om Agrawal, 23120060</a:t>
            </a:r>
            <a:br>
              <a:rPr lang="en-US" sz="1300" dirty="0">
                <a:solidFill>
                  <a:schemeClr val="bg1"/>
                </a:solidFill>
              </a:rPr>
            </a:br>
            <a:r>
              <a:rPr lang="en-US" sz="1300" dirty="0">
                <a:solidFill>
                  <a:schemeClr val="bg1"/>
                </a:solidFill>
              </a:rPr>
              <a:t>Priyansh Agrawal, 23120073</a:t>
            </a:r>
            <a:br>
              <a:rPr lang="en-US" sz="1300" dirty="0">
                <a:solidFill>
                  <a:schemeClr val="bg1"/>
                </a:solidFill>
              </a:rPr>
            </a:br>
            <a:r>
              <a:rPr lang="en-US" sz="1300" dirty="0">
                <a:solidFill>
                  <a:schemeClr val="bg1"/>
                </a:solidFill>
              </a:rPr>
              <a:t>Siddharth Jha, 23120095</a:t>
            </a:r>
            <a:br>
              <a:rPr lang="en-US" sz="1300" dirty="0">
                <a:solidFill>
                  <a:schemeClr val="bg1"/>
                </a:solidFill>
              </a:rPr>
            </a:br>
            <a:br>
              <a:rPr lang="en-US" sz="1300" dirty="0">
                <a:solidFill>
                  <a:schemeClr val="bg1"/>
                </a:solidFill>
              </a:rPr>
            </a:b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355080" y="28346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7B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326944" y="30222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Metallurgical and Materials Engineering, NIT Raipur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37947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7B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400507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Shikhar Tiwary, General Manager, BRM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8006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&amp; Rod Mill  |  Bhilai Steel Plant, SAIL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4173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Introduction: SAIL and Bhilai Steel Plant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3911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03911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Billet handling and charging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66090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66090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Reheating furnace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28269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328269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process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90448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90448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Finishing operations and process flow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14173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212080" y="14173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optimization: objectives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203911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212080" y="203911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production processes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266090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5212080" y="266090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technologies and future scope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663440" y="328269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5212080" y="328269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SAIL and Bhilai Steel Plant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8006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&amp; Rod Mill  |  Bhilai Steel Plant, SAIL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SAIL is one of India’s largest state-owned steel makers, running several integrated steel plants.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BSP lies about 40 km west of Raipur, Chhattisgarh. Set up in 1955, production began in 1959 with Soviet collaboration.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MODEX programme added Blast Furnace 8 (Mahamaya), SMS-III, the Universal Rail Mill and the Bar &amp; Rod Mill.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9001, ISO 14001 and ISO 50001:2018 certified; eleven-time winner of the PM’s Trophy for best integrated steel plant.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India’s largest supplier of rails: 130 m single-piece rails and 260 m welded panels for Indian Railways.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760720" y="1371600"/>
            <a:ext cx="0" cy="301752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0" y="13258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C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7.5 MT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18928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metal per year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2331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C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MT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28986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Crude steel per year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3337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C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6.56 MT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39044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Saleable steel per year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Objectives, scope and products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8006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&amp; Rod Mill  |  Bhilai Steel Plant, SAIL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do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3736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end-to-end workflow of the Bar and Rod Mill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the walking beam furnace and rolling stands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bottlenecks from billet handling to dispatch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ways to improve yield, energy use and safety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0" y="1371600"/>
            <a:ext cx="0" cy="301752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371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mill makes (5.5 mm to 60 mm)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73736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TMT rebar, coil and straight, for construction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rods in coil, for wire drawing and fencing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bars in straight lengths, for structural and mechanical use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grades: spring, bearing, free-cutting, low-alloy and welding steels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Billet handling and charging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8006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&amp; Rod Mill  |  Bhilai Steel Plant, SAIL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13716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SMS-III  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Billets (about 2 t each) arrive after casting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95681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195681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Stockyard  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storage with Pole-1 and Pole-2 lines; one runs, one on standby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54203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5420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crane  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Lifts 5 to 6 billets at a time onto the charging platform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12724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31272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Hydraulic charger  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and aligns one billet at a time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71246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371246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Roller table  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Sensor-controlled movement toward the furnace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760720" y="1371600"/>
            <a:ext cx="0" cy="301752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35040" y="1371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plus human eyes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173736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 room on the first floor near Pole-1 lets operators spot bent billets, scratches and damaged corners that sensors miss. If a defect is found, the whole batch goes back to the stockyard for segregation.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Reheating furnace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8006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&amp; Rod Mill  |  Bhilai Steel Plant, SAIL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billets are too strong to roll, so they are heated until the steel turns ductile and plastic.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walking beam furnace is used: the movable beam lifts the billet about 200 mm, moves it 250 mm forward and sets it on the next fixed skid.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dragging on the hearth, so less surface damage and fewer skid marks than a pusher furnace.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zones: recuperative (preheating, uses waste heat), heating, reheating and soaking.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digital control, synchronized with the rolling mill.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0" y="1371600"/>
            <a:ext cx="0" cy="301752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89320" y="12801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C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102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989320" y="18470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billets held at a time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315200" y="12801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C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0" y="18470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burners, digitally controlled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989320" y="25146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C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1130°C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5989320" y="30815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billet exit temperature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989320" y="35204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cold raises rolling force and power. Too hot causes scale and poorer steel quality.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Rolling process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8006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&amp; Rod Mill  |  Bhilai Steel Plant, SAIL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463040" cy="457200"/>
          </a:xfrm>
          <a:prstGeom prst="rect">
            <a:avLst/>
          </a:prstGeom>
          <a:solidFill>
            <a:srgbClr val="EFEAE0"/>
          </a:solidFill>
          <a:ln w="9525">
            <a:solidFill>
              <a:srgbClr val="DDD6C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325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Furnace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76272" y="1325880"/>
            <a:ext cx="1463040" cy="457200"/>
          </a:xfrm>
          <a:prstGeom prst="rect">
            <a:avLst/>
          </a:prstGeom>
          <a:solidFill>
            <a:srgbClr val="EFEAE0"/>
          </a:solidFill>
          <a:ln w="9525">
            <a:solidFill>
              <a:srgbClr val="DDD6C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76272" y="1325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Descaling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03904" y="1325880"/>
            <a:ext cx="1463040" cy="457200"/>
          </a:xfrm>
          <a:prstGeom prst="rect">
            <a:avLst/>
          </a:prstGeom>
          <a:solidFill>
            <a:srgbClr val="EFEAE0"/>
          </a:solidFill>
          <a:ln w="9525">
            <a:solidFill>
              <a:srgbClr val="DDD6C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03904" y="1325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31536" y="1325880"/>
            <a:ext cx="1463040" cy="457200"/>
          </a:xfrm>
          <a:prstGeom prst="rect">
            <a:avLst/>
          </a:prstGeom>
          <a:solidFill>
            <a:srgbClr val="EFEAE0"/>
          </a:solidFill>
          <a:ln w="9525">
            <a:solidFill>
              <a:srgbClr val="DDD6C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31536" y="1325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059168" y="1325880"/>
            <a:ext cx="1463040" cy="457200"/>
          </a:xfrm>
          <a:prstGeom prst="rect">
            <a:avLst/>
          </a:prstGeom>
          <a:solidFill>
            <a:srgbClr val="1B3A5C"/>
          </a:solidFill>
          <a:ln w="9525">
            <a:solidFill>
              <a:srgbClr val="DDD6C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59168" y="1325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Finishing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468880"/>
            <a:ext cx="3840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High-pressure water jets remove oxide scale before the first stand.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Stands alternate between horizontal and vertical so reduction is even from all directions.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roll has several grooves; one is used per campaign, set by product size.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103120"/>
            <a:ext cx="0" cy="237744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93776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and safety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937760" y="246888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A₁V₁ = A₂V₂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 is nearly incompressible, so as area falls the bar speeds up. It crawls near the furnace and races at the finishing end.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Cobbles (bar jumping the path) come from bad guide alignment, wrong roll gap or temperature swings. The finishing section is the most hazardous zone.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Finishing operations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8006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&amp; Rod Mill  |  Bhilai Steel Plant, SAIL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cooling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1325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spray right after the last stand sets strength and toughness (the TMT step).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819656"/>
            <a:ext cx="6172200" cy="0"/>
          </a:xfrm>
          <a:prstGeom prst="line">
            <a:avLst/>
          </a:prstGeom>
          <a:noFill/>
          <a:ln w="9525">
            <a:solidFill>
              <a:srgbClr val="DDD6C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85623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 bed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148840" y="18562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beam moves bars one by one, so they never overlap or collide.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350008"/>
            <a:ext cx="6172200" cy="0"/>
          </a:xfrm>
          <a:prstGeom prst="line">
            <a:avLst/>
          </a:prstGeom>
          <a:noFill/>
          <a:ln w="9525">
            <a:solidFill>
              <a:srgbClr val="DDD6C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38658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148840" y="238658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operator takes a sample before cutting for tensile, bend, hardness and surface tests.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880360"/>
            <a:ext cx="6172200" cy="0"/>
          </a:xfrm>
          <a:prstGeom prst="line">
            <a:avLst/>
          </a:prstGeom>
          <a:noFill/>
          <a:ln w="9525">
            <a:solidFill>
              <a:srgbClr val="DDD6C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291693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Cutting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148840" y="291693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High-speed shear, synchronized with rolling speed, makes commercial lengths.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410712"/>
            <a:ext cx="6172200" cy="0"/>
          </a:xfrm>
          <a:prstGeom prst="line">
            <a:avLst/>
          </a:prstGeom>
          <a:noFill/>
          <a:ln w="9525">
            <a:solidFill>
              <a:srgbClr val="DDD6C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344728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Bundling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148840" y="34472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 straps and tags carry size, grade, heat and batch number for traceability.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941064"/>
            <a:ext cx="6172200" cy="0"/>
          </a:xfrm>
          <a:prstGeom prst="line">
            <a:avLst/>
          </a:prstGeom>
          <a:noFill/>
          <a:ln w="9525">
            <a:solidFill>
              <a:srgbClr val="DDD6C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3977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148840" y="3977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cranes load bundles onto railway wagons.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040880" y="1325880"/>
            <a:ext cx="1554480" cy="3017520"/>
          </a:xfrm>
          <a:prstGeom prst="rect">
            <a:avLst/>
          </a:prstGeom>
          <a:solidFill>
            <a:srgbClr val="EFEAE0"/>
          </a:solidFill>
          <a:ln w="12700">
            <a:solidFill>
              <a:srgbClr val="EFEAE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78040" y="1554480"/>
            <a:ext cx="1280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C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mm and 16 mm</a:t>
            </a:r>
            <a:endParaRPr lang="en-US" sz="16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sizes being rolled on the day of the plant visit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Overall process flow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8006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&amp; Rod Mill  |  Bhilai Steel Plant, SAIL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234440" cy="685800"/>
          </a:xfrm>
          <a:prstGeom prst="rect">
            <a:avLst/>
          </a:prstGeom>
          <a:solidFill>
            <a:srgbClr val="1B3A5C"/>
          </a:solidFill>
          <a:ln w="9525">
            <a:solidFill>
              <a:srgbClr val="DDD6C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32588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Billet from SMS-III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11096" y="1325880"/>
            <a:ext cx="1234440" cy="685800"/>
          </a:xfrm>
          <a:prstGeom prst="rect">
            <a:avLst/>
          </a:prstGeom>
          <a:solidFill>
            <a:srgbClr val="EFEAE0"/>
          </a:solidFill>
          <a:ln w="9525">
            <a:solidFill>
              <a:srgbClr val="DDD6C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956816" y="132588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Stockyard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73552" y="1325880"/>
            <a:ext cx="1234440" cy="685800"/>
          </a:xfrm>
          <a:prstGeom prst="rect">
            <a:avLst/>
          </a:prstGeom>
          <a:solidFill>
            <a:srgbClr val="EFEAE0"/>
          </a:solidFill>
          <a:ln w="9525">
            <a:solidFill>
              <a:srgbClr val="DDD6C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19272" y="132588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crane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36008" y="1325880"/>
            <a:ext cx="1234440" cy="685800"/>
          </a:xfrm>
          <a:prstGeom prst="rect">
            <a:avLst/>
          </a:prstGeom>
          <a:solidFill>
            <a:srgbClr val="EFEAE0"/>
          </a:solidFill>
          <a:ln w="9525">
            <a:solidFill>
              <a:srgbClr val="DDD6C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81728" y="132588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Hydraulic charger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98464" y="1325880"/>
            <a:ext cx="1234440" cy="685800"/>
          </a:xfrm>
          <a:prstGeom prst="rect">
            <a:avLst/>
          </a:prstGeom>
          <a:solidFill>
            <a:srgbClr val="EFEAE0"/>
          </a:solidFill>
          <a:ln w="9525">
            <a:solidFill>
              <a:srgbClr val="DDD6C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44184" y="132588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Roller table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60920" y="1325880"/>
            <a:ext cx="1234440" cy="685800"/>
          </a:xfrm>
          <a:prstGeom prst="rect">
            <a:avLst/>
          </a:prstGeom>
          <a:solidFill>
            <a:srgbClr val="EFEAE0"/>
          </a:solidFill>
          <a:ln w="9525">
            <a:solidFill>
              <a:srgbClr val="DDD6C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06640" y="132588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286000"/>
            <a:ext cx="1234440" cy="685800"/>
          </a:xfrm>
          <a:prstGeom prst="rect">
            <a:avLst/>
          </a:prstGeom>
          <a:solidFill>
            <a:srgbClr val="EFEAE0"/>
          </a:solidFill>
          <a:ln w="9525">
            <a:solidFill>
              <a:srgbClr val="DDD6C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228600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beam furnace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911096" y="2286000"/>
            <a:ext cx="1234440" cy="685800"/>
          </a:xfrm>
          <a:prstGeom prst="rect">
            <a:avLst/>
          </a:prstGeom>
          <a:solidFill>
            <a:srgbClr val="EFEAE0"/>
          </a:solidFill>
          <a:ln w="9525">
            <a:solidFill>
              <a:srgbClr val="DDD6C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956816" y="228600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Descaling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73552" y="2286000"/>
            <a:ext cx="1234440" cy="685800"/>
          </a:xfrm>
          <a:prstGeom prst="rect">
            <a:avLst/>
          </a:prstGeom>
          <a:solidFill>
            <a:srgbClr val="EFEAE0"/>
          </a:solidFill>
          <a:ln w="9525">
            <a:solidFill>
              <a:srgbClr val="DDD6C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319272" y="228600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Roughing mill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36008" y="2286000"/>
            <a:ext cx="1234440" cy="685800"/>
          </a:xfrm>
          <a:prstGeom prst="rect">
            <a:avLst/>
          </a:prstGeom>
          <a:solidFill>
            <a:srgbClr val="EFEAE0"/>
          </a:solidFill>
          <a:ln w="9525">
            <a:solidFill>
              <a:srgbClr val="DDD6C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681728" y="228600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mill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98464" y="2286000"/>
            <a:ext cx="1234440" cy="685800"/>
          </a:xfrm>
          <a:prstGeom prst="rect">
            <a:avLst/>
          </a:prstGeom>
          <a:solidFill>
            <a:srgbClr val="EFEAE0"/>
          </a:solidFill>
          <a:ln w="9525">
            <a:solidFill>
              <a:srgbClr val="DDD6C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044184" y="228600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Finishing mill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60920" y="2286000"/>
            <a:ext cx="1234440" cy="685800"/>
          </a:xfrm>
          <a:prstGeom prst="rect">
            <a:avLst/>
          </a:prstGeom>
          <a:solidFill>
            <a:srgbClr val="EFEAE0"/>
          </a:solidFill>
          <a:ln w="9525">
            <a:solidFill>
              <a:srgbClr val="DDD6C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06640" y="228600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cooling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3246120"/>
            <a:ext cx="1234440" cy="685800"/>
          </a:xfrm>
          <a:prstGeom prst="rect">
            <a:avLst/>
          </a:prstGeom>
          <a:solidFill>
            <a:srgbClr val="EFEAE0"/>
          </a:solidFill>
          <a:ln w="9525">
            <a:solidFill>
              <a:srgbClr val="DDD6C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94360" y="324612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 bed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911096" y="3246120"/>
            <a:ext cx="1234440" cy="685800"/>
          </a:xfrm>
          <a:prstGeom prst="rect">
            <a:avLst/>
          </a:prstGeom>
          <a:solidFill>
            <a:srgbClr val="EFEAE0"/>
          </a:solidFill>
          <a:ln w="9525">
            <a:solidFill>
              <a:srgbClr val="DDD6C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956816" y="324612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and testing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73552" y="3246120"/>
            <a:ext cx="1234440" cy="685800"/>
          </a:xfrm>
          <a:prstGeom prst="rect">
            <a:avLst/>
          </a:prstGeom>
          <a:solidFill>
            <a:srgbClr val="EFEAE0"/>
          </a:solidFill>
          <a:ln w="9525">
            <a:solidFill>
              <a:srgbClr val="DDD6C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319272" y="324612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Cutting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36008" y="3246120"/>
            <a:ext cx="1234440" cy="685800"/>
          </a:xfrm>
          <a:prstGeom prst="rect">
            <a:avLst/>
          </a:prstGeom>
          <a:solidFill>
            <a:srgbClr val="EFEAE0"/>
          </a:solidFill>
          <a:ln w="9525">
            <a:solidFill>
              <a:srgbClr val="DDD6C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681728" y="324612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Bundling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998464" y="3246120"/>
            <a:ext cx="1234440" cy="685800"/>
          </a:xfrm>
          <a:prstGeom prst="rect">
            <a:avLst/>
          </a:prstGeom>
          <a:solidFill>
            <a:srgbClr val="1B3A5C"/>
          </a:solidFill>
          <a:ln w="9525">
            <a:solidFill>
              <a:srgbClr val="DDD6C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044184" y="324612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 dispatch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42976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left to right, row by row. The line is highly integrated: sensors, hydraulics and PLCs keep each stage in step, with people checking what machines cannot.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optimize the Bar and Rod Mill?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8006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&amp; Rod Mill  |  Bhilai Steel Plant, SAIL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80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is continuous: find losses at every stage and fix them, so output rises without building new capacity.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1463040" cy="0"/>
          </a:xfrm>
          <a:prstGeom prst="line">
            <a:avLst/>
          </a:prstGeom>
          <a:noFill/>
          <a:ln w="25400">
            <a:solidFill>
              <a:srgbClr val="C855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286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Productivity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6974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output and fewer stoppages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76272" y="2148840"/>
            <a:ext cx="1463040" cy="0"/>
          </a:xfrm>
          <a:prstGeom prst="line">
            <a:avLst/>
          </a:prstGeom>
          <a:noFill/>
          <a:ln w="25400">
            <a:solidFill>
              <a:srgbClr val="C855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76272" y="2286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Yield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176272" y="26974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scale, crop, cobble and reject losses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03904" y="2148840"/>
            <a:ext cx="1463040" cy="0"/>
          </a:xfrm>
          <a:prstGeom prst="line">
            <a:avLst/>
          </a:prstGeom>
          <a:noFill/>
          <a:ln w="25400">
            <a:solidFill>
              <a:srgbClr val="C855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03904" y="2286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803904" y="26974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furnace efficiency, waste heat recovery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31536" y="2148840"/>
            <a:ext cx="1463040" cy="0"/>
          </a:xfrm>
          <a:prstGeom prst="line">
            <a:avLst/>
          </a:prstGeom>
          <a:noFill/>
          <a:ln w="25400">
            <a:solidFill>
              <a:srgbClr val="C855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31536" y="2286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Reliability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31536" y="26974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failures before they happen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059168" y="2148840"/>
            <a:ext cx="1463040" cy="0"/>
          </a:xfrm>
          <a:prstGeom prst="line">
            <a:avLst/>
          </a:prstGeom>
          <a:noFill/>
          <a:ln w="25400">
            <a:solidFill>
              <a:srgbClr val="C855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59168" y="2286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059168" y="26974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dimensions and consistent properties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tracked: Overall Equipment Effectiveness (OEE), rolling yield, specific energy consumption.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Optimizing billets and the furnace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8006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&amp; Rod Mill  |  Bhilai Steel Plant, SAIL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material and charging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3736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size, surface, grade and heat number before charging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UT, magnetic particle and laser checks catch hidden defects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FIFO, barcode and RFID tracking prevent grade mix-ups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Grade-wise storage avoids rust and handling damage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0" cy="301752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Reheating furnace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73736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for uniform temperature (about 1100 to 1250°C by grade)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control of fuel, air-fuel ratio and residence time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Regenerative burners, insulation and waste heat recovery cut fuel use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atmosphere and no overheating reduce scale loss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Rolling mill, yield and defects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8006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&amp; Rod Mill  |  Bhilai Steel Plant, SAIL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mill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3736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PLC/SCADA drives keep stand speeds in step; loopers hold tension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Computer-aided roll pass design balances reduction per pass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Gauge Control adjusts roll gap from laser measurements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and SPC catch surface and size defects online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0" cy="301752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yield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7373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Yield (%) = finished product / billets charged × 100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233172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96 t out of 100 t charged = 96%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Losses: scale, crop ends, cobbles, rejects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yield from 95.5% to 96.2% on a 900,000 t mill gives thousands of extra saleable tonnes with no extra billets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Advanced technologies and future scope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8006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&amp; Rod Mill  |  Bhilai Steel Plant, SAIL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74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Predictive maintenance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56032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track vibration, temperature, oil condition and motor current. AI flags faults early so repairs fit planned shutdowns, lifting OEE.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154680" y="1417320"/>
            <a:ext cx="0" cy="274320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91840" y="1371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1874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Lean manufacturing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256032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waste with 5S, Kaizen and Total Productive Maintenance. Cut waiting, rework, extra inventory and needless movement.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897880" y="1417320"/>
            <a:ext cx="0" cy="274320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35040" y="1371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1874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Industry 4.0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256032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IIoT sensors feed real-time data to AI models. Digital twins let engineers test changes virtually before touching the plant.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8006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&amp; Rod Mill  |  Bhilai Steel Plant, SAIL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7863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BRM turns 2-tonne billets into bars and rods through a tightly automated chain: charging, reheating, rolling, cooling, cutting and dispatch.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gains lie in billet quality, furnace control, roll synchronization and cobble prevention, all of which feed rolling yield.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PLC, SCADA, AGC and IIoT give real-time control; predictive maintenance and AI improve reliability.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practices (5S, Kaizen, TPM) keep improvement continuous.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sound metallurgical practice with digital tools will keep BSP competitive on cost, quality and sustainability.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15544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welcome.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9319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Priyansh Agrawal  |  Roll No. 23120073  |  Metallurgical and Materials Engineering, NIT Raipur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2519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thanks to Mr. Shikhar Tiwary and the BRM team, Bhilai Steel Plant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1571</Words>
  <Application>Microsoft Office PowerPoint</Application>
  <PresentationFormat>On-screen Show (16:9)</PresentationFormat>
  <Paragraphs>235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 and Process Optimization of Bar and Rod Mill</dc:title>
  <dc:subject>PptxGenJS Presentation</dc:subject>
  <dc:creator>Priyansh Agrawal</dc:creator>
  <cp:lastModifiedBy>ansh khandwe</cp:lastModifiedBy>
  <cp:revision>2</cp:revision>
  <dcterms:created xsi:type="dcterms:W3CDTF">2026-10-29T17:37:26Z</dcterms:created>
  <dcterms:modified xsi:type="dcterms:W3CDTF">2026-10-29T17:57:35Z</dcterms:modified>
</cp:coreProperties>
</file>