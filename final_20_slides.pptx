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22"/>
    <p:sldId id="262" r:id="rId7"/>
    <p:sldId id="263" r:id="rId23"/>
    <p:sldId id="264" r:id="rId8"/>
    <p:sldId id="265" r:id="rId24"/>
    <p:sldId id="266" r:id="rId9"/>
    <p:sldId id="267" r:id="rId10"/>
    <p:sldId id="268" r:id="rId11"/>
    <p:sldId id="269" r:id="rId12"/>
    <p:sldId id="270" r:id="rId13"/>
    <p:sldId id="271" r:id="rId25"/>
    <p:sldId id="272" r:id="rId26"/>
    <p:sldId id="273" r:id="rId14"/>
    <p:sldId id="274" r:id="rId15"/>
    <p:sldId id="27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62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731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INTERNSHIP PROJECT  2026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 and Process Optimization of Bar and Rod Mill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Bhilai Steel Plant, SAIL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period: 22 June 2026 to 18 July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6309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E7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868680"/>
            <a:ext cx="2468880" cy="1330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bg1"/>
                </a:solidFill>
              </a:rPr>
              <a:t>Anshika Pandey , 23120016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Naval Deshpande, 23120053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Ojas Pandey, 23120059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Chirag Singhal, 23120031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Om Agrawal, 23120060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Priyansh Agrawal, 23120073</a:t>
            </a:r>
            <a:br>
              <a:rPr lang="en-US" sz="1300" dirty="0">
                <a:solidFill>
                  <a:schemeClr val="bg1"/>
                </a:solidFill>
              </a:rPr>
            </a:br>
            <a:r>
              <a:rPr lang="en-US" sz="1300" dirty="0">
                <a:solidFill>
                  <a:schemeClr val="bg1"/>
                </a:solidFill>
              </a:rPr>
              <a:t>Siddharth Jha, 23120095</a:t>
            </a:r>
            <a:br>
              <a:rPr lang="en-US" sz="1300" dirty="0">
                <a:solidFill>
                  <a:schemeClr val="bg1"/>
                </a:solidFill>
              </a:rPr>
            </a:br>
            <a:br>
              <a:rPr lang="en-US" sz="1300" dirty="0">
                <a:solidFill>
                  <a:schemeClr val="bg1"/>
                </a:solidFill>
              </a:rPr>
            </a:b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355080" y="283464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E7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326944" y="302226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Metallurgical and Materials Engineering, NIT Raipur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794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E7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40050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Shikhar Tiwary, General Manager, BRM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Introduction: SAIL and Bhilai Steel Plant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391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 handling and charging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6090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6090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Reheating furnace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826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28269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process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044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operations and process flow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1417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optimization: objectives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0391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0391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production processes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66090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266090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technologies and future scope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2826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328269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SAIL and Bhilai Steel Plant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 is one of India’s largest state-owned steel makers, running several integrated steel plants.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BSP lies about 40 km west of Raipur, Chhattisgarh. Set up in 1955, production began in 1959 with Soviet collaboration.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MODEX programme added Blast Furnace 8 (Mahamaya), SMS-III, the Universal Rail Mill and the Bar &amp; Rod Mill.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50001:2018 certified; eleven-time winner of the PM’s Trophy for best integrated steel plant.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India’s largest supplier of rails: 130 m single-piece rails and 260 m welded panels for Indian Railways.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1325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7.5 MT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892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metal per year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331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MT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8986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steel per year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6.56 MT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904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Saleable steel per year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Objectives, scope and products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do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end-to-end workflow of the Bar and Rod Mill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walking beam furnace and rolling stands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bottlenecks from billet handling to dispatch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ways to improve yield, energy use and safety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mill makes (5.5 mm to 60 mm)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73736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TMT rebar, coil and straight, for construction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rods in coil, for wire drawing and fencing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bars in straight lengths, for structural and mechanical use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grades: spring, bearing, free-cutting, low-alloy and welding steels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Billet handling and charging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371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SMS-III  </a:t>
            </a: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(about 2 t each) arrive after casting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568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Stockyard  </a:t>
            </a: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storage with Pole-1 and Pole-2 lines; one runs, one on standby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4203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5420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crane  </a:t>
            </a: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5 to 6 billets at a time onto the charging platform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272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1272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Hydraulic charger  </a:t>
            </a: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and aligns one billet at a time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1246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71246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Roller table  </a:t>
            </a: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Sensor-controlled movement toward the furnace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76072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plus human eyes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173736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room on the first floor near Pole-1 lets operators spot bent billets, scratches and damaged corners that sensors miss. If a defect is found, the whole batch goes back to the stockyard for segregation.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Reheating furnace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billets are too strong to roll, so they are heated until the steel turns ductile and plastic.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walking beam furnace is used: the movable beam lifts the billet about 200 mm, moves it 250 mm forward and sets it on the next fixed skid.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dragging on the hearth, so less surface damage and fewer skid marks than a pusher furnace.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zones: recuperative (preheating, uses waste heat), heating, reheating and soaking.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digital control, synchronized with the rolling mill.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89320" y="1280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8470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held at a time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280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847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burners, digitally controlled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1130°C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30815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 exit temperature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cold raises rolling force and power. Too hot causes scale and poorer steel quality.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Rolling process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Furnace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76272" y="132588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6272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Descaling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03904" y="132588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03904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31536" y="132588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31536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59168" y="1325880"/>
            <a:ext cx="1463040" cy="457200"/>
          </a:xfrm>
          <a:prstGeom prst="rect">
            <a:avLst/>
          </a:prstGeom>
          <a:solidFill>
            <a:srgbClr val="1B3A5C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59168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468880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High-pressure water jets remove oxide scale before the first stand.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alternate between horizontal and vertical so reduction is even from all directions.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roll has several grooves; one is used per campaign, set by product size.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103120"/>
            <a:ext cx="0" cy="237744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377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and safety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246888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A₁V₁ = A₂V₂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is nearly incompressible, so as area falls the bar speeds up. It crawls near the furnace and races at the finishing end.</a:t>
            </a:r>
            <a:endParaRPr lang="en-US" sz="1800" dirty="0"/>
          </a:p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Cobbles (bar jumping the path) come from bad guide alignment, wrong roll gap or temperature swings. The finishing section is the most hazardous zone.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Finishing operations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cooling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325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spray right after the last stand sets strength and toughness (the TMT step).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19656"/>
            <a:ext cx="6172200" cy="0"/>
          </a:xfrm>
          <a:prstGeom prst="line">
            <a:avLst/>
          </a:prstGeom>
          <a:noFill/>
          <a:ln w="9525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56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bed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beam moves bars one by one, so they never overlap or collide.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6172200" cy="0"/>
          </a:xfrm>
          <a:prstGeom prst="line">
            <a:avLst/>
          </a:prstGeom>
          <a:noFill/>
          <a:ln w="9525">
            <a:solidFill>
              <a:srgbClr val="DDD6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865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2386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takes a sample before cutting for tensile, bend, hardness and surface tests.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6172200" cy="0"/>
          </a:xfrm>
          <a:prstGeom prst="line">
            <a:avLst/>
          </a:prstGeom>
          <a:noFill/>
          <a:ln w="9525">
            <a:solidFill>
              <a:srgbClr val="DDD6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169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48840" y="2916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High-speed shear, synchronized with rolling speed, makes commercial lengths.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10712"/>
            <a:ext cx="6172200" cy="0"/>
          </a:xfrm>
          <a:prstGeom prst="line">
            <a:avLst/>
          </a:prstGeom>
          <a:noFill/>
          <a:ln w="9525">
            <a:solidFill>
              <a:srgbClr val="DDD6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472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34472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straps and tags carry size, grade, heat and batch number for traceability.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6172200" cy="0"/>
          </a:xfrm>
          <a:prstGeom prst="line">
            <a:avLst/>
          </a:prstGeom>
          <a:noFill/>
          <a:ln w="9525">
            <a:solidFill>
              <a:srgbClr val="DDD6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14884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 cranes load bundles onto railway wagons.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40880" y="1325880"/>
            <a:ext cx="1554480" cy="3017520"/>
          </a:xfrm>
          <a:prstGeom prst="rect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8040" y="1554480"/>
            <a:ext cx="1280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mm and 16 mm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sizes being rolled on the day of the plant visit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process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234440" cy="685800"/>
          </a:xfrm>
          <a:prstGeom prst="rect">
            <a:avLst/>
          </a:prstGeom>
          <a:solidFill>
            <a:srgbClr val="1B3A5C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 from SMS-III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11096" y="132588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56816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Stockyard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73552" y="132588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19272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crane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36008" y="132588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Hydraulic charger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98464" y="132588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44184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Roller table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132588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0" y="13258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beam furnace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911096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56816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Descaling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73552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19272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Roughing mill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36008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81728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mill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98464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44184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mill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28600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06640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cooling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24612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32461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bed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911096" y="324612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956816" y="32461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and testing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73552" y="324612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19272" y="32461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36008" y="3246120"/>
            <a:ext cx="123444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81728" y="32461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998464" y="3246120"/>
            <a:ext cx="1234440" cy="685800"/>
          </a:xfrm>
          <a:prstGeom prst="rect">
            <a:avLst/>
          </a:prstGeom>
          <a:solidFill>
            <a:srgbClr val="1B3A5C"/>
          </a:solidFill>
          <a:ln w="9525">
            <a:solidFill>
              <a:srgbClr val="DDD6C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44184" y="32461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dispatch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left to right, row by row. The line is highly integrated: sensors, hydraulics and PLCs keep each stage in step, with people checking what machines cannot.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optimize the Bar and Rod Mill?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is continuous: find losses at every stage and fix them, so output rises without building new capacity.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14630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Productivity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97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output and fewer stoppages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76272" y="2148840"/>
            <a:ext cx="14630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6272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Yield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2697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scale, crop, cobble and reject losses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03904" y="2148840"/>
            <a:ext cx="14630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03904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803904" y="2697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furnace efficiency, waste heat recovery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31536" y="2148840"/>
            <a:ext cx="14630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1536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31536" y="2697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failures before they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59168" y="2148840"/>
            <a:ext cx="14630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59168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59168" y="2697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dimensions and consistent properties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tracked: Overall Equipment Effectiveness (OEE), rolling yield, specific energy consumption.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Optimizing billets and the furnace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and charging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size, surface, grade and heat number before charging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UT, magnetic particle and laser checks catch hidden defects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FIFO, barcode and RFID tracking prevent grade mix-ups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Grade-wise storage avoids rust and handling damage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Reheating furnace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uniform temperature (about 1100 to 1250°C by grade)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control of fuel, air-fuel ratio and residence time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Regenerative burners, insulation and waste heat recovery cut fuel use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atmosphere and no overheating reduce scale loss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Rolling mill, yield and defects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mill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PLC/SCADA drives keep stand speeds in step; loopers hold tension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Computer-aided roll pass design balances reduction per pass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Gauge Control adjusts roll gap from laser measurements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and SPC catch surface and size defects online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yield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Yield (%) = finished product / billets charged × 100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33172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96 t out of 100 t charged = 96%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Losses: scale, crop ends, cobbles, rejects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yield from 95.5% to 96.2% on a 900,000 t mill gives thousands of extra saleable tonnes with no extra billets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technologies and future scope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maintenance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track vibration, temperature, oil condition and motor current. AI flags faults early so repairs fit planned shutdowns, lifting OEE.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54680" y="1417320"/>
            <a:ext cx="0" cy="274320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manufacturing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56032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waste with 5S, Kaizen and Total Productive Maintenance. Cut waiting, rework, extra inventory and needless movement.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97880" y="1417320"/>
            <a:ext cx="0" cy="274320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4.0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56032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IIoT sensors feed real-time data to AI models. Digital twins let engineers test changes virtually before touching the plant.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BRM turns 2-tonne billets into bars and rods through a tightly automated chain: charging, reheating, rolling, cooling, cutting and dispatch.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gains lie in billet quality, furnace control, roll synchronization and cobble prevention, all of which feed rolling yield.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PLC, SCADA, AGC and IIoT give real-time control; predictive maintenance and AI improve reliability.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practices (5S, Kaizen, TPM) keep improvement continuous.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sound metallurgical practice with digital tools will keep BSP competitive on cost, quality and sustainability.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14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931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Priyansh Agrawal  |  Roll No. 23120073  |  Metallurgical and Materials Engineering, NIT Raipur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251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thanks to Mr. Shikhar Tiwary and the BRM team, Bhilai Steel Plant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Inside the charging line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5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69164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first floor near Pole-1, with a clear view of the stockyard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look for bent billets, scratches, damaged corners and shape errors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crane, charger and roller table status in one place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32918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and hydraulic charger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3291840" y="169164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Electromagnetic overhead crane lifts 5 to 6 billets per trip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safe transfer of 2 t billets with little manual labour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Hydraulic charger separates one billet, aligns it and places it on the roller table</a:t>
            </a:r>
            <a:endParaRPr lang="en-US" sz="1200" dirty="0"/>
          </a:p>
        </p:txBody>
      </p:sp>
      <p:sp>
        <p:nvSpPr>
          <p:cNvPr id="10" name="Text 10"/>
          <p:cNvSpPr txBox="1"/>
          <p:nvPr/>
        </p:nvSpPr>
        <p:spPr>
          <a:xfrm>
            <a:off x="60350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Roller table and sensors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6035040" y="16916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rollers move each billet in steps, pausing at set points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detect billet position and check it is fit for the furnace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signals keep rollers, hydraulics and furnace charging in step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3154680" y="1371600"/>
            <a:ext cx="0" cy="228600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5897880" y="1371600"/>
            <a:ext cx="0" cy="228600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548640" y="3794760"/>
            <a:ext cx="8046720" cy="6858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 </a:t>
            </a: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SMS-III → Stockyard → EM crane → Charging platform → Hydraulic charger → Roller table → Sensor inspection → Furnace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Walking beam cycle and furnace zones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5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walking beam cycle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7373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8"/>
          <p:cNvSpPr txBox="1"/>
          <p:nvPr/>
        </p:nvSpPr>
        <p:spPr>
          <a:xfrm>
            <a:off x="960120" y="17373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 </a:t>
            </a: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movable beam raises the billet about 200 mm off the fixed skid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10"/>
          <p:cNvSpPr txBox="1"/>
          <p:nvPr/>
        </p:nvSpPr>
        <p:spPr>
          <a:xfrm>
            <a:off x="960120" y="221284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 </a:t>
            </a: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it about 250 mm toward the discharge end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48640" y="2688336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2"/>
          <p:cNvSpPr txBox="1"/>
          <p:nvPr/>
        </p:nvSpPr>
        <p:spPr>
          <a:xfrm>
            <a:off x="960120" y="268833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 </a:t>
            </a: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lowers it onto the next fixed skid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316382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4"/>
          <p:cNvSpPr txBox="1"/>
          <p:nvPr/>
        </p:nvSpPr>
        <p:spPr>
          <a:xfrm>
            <a:off x="960120" y="3163824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 </a:t>
            </a: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back to start the next cycle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548640" y="37033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skids hold and align the billet while it heats. Movable skids are hydraulic and do the carrying, so the billet never drags on the hearth.</a:t>
            </a:r>
            <a:endParaRPr lang="en-US" sz="1100" dirty="0"/>
          </a:p>
        </p:txBody>
      </p:sp>
      <p:sp>
        <p:nvSpPr>
          <p:cNvPr id="16" name="Shape 16"/>
          <p:cNvSpPr/>
          <p:nvPr/>
        </p:nvSpPr>
        <p:spPr>
          <a:xfrm>
            <a:off x="4709160" y="1371600"/>
            <a:ext cx="0" cy="30175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4983480" y="13258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heating zones</a:t>
            </a:r>
            <a:endParaRPr lang="en-US" sz="1400" dirty="0"/>
          </a:p>
        </p:txBody>
      </p:sp>
      <p:sp>
        <p:nvSpPr>
          <p:cNvPr id="18" name="Shape 18"/>
          <p:cNvSpPr/>
          <p:nvPr/>
        </p:nvSpPr>
        <p:spPr>
          <a:xfrm>
            <a:off x="4983480" y="1691640"/>
            <a:ext cx="3611880" cy="59436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64008" tIns="64008" rIns="64008" bIns="64008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Recuperative  </a:t>
            </a: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preheats billets with waste heat from flue gas</a:t>
            </a:r>
            <a:endParaRPr lang="en-US" sz="1150" dirty="0"/>
          </a:p>
        </p:txBody>
      </p:sp>
      <p:sp>
        <p:nvSpPr>
          <p:cNvPr id="19" name="Shape 19"/>
          <p:cNvSpPr/>
          <p:nvPr/>
        </p:nvSpPr>
        <p:spPr>
          <a:xfrm>
            <a:off x="4983480" y="2331720"/>
            <a:ext cx="3611880" cy="59436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64008" tIns="64008" rIns="64008" bIns="64008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 </a:t>
            </a: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burners raise the temperature quickly</a:t>
            </a:r>
            <a:endParaRPr lang="en-US" sz="1150" dirty="0"/>
          </a:p>
        </p:txBody>
      </p:sp>
      <p:sp>
        <p:nvSpPr>
          <p:cNvPr id="20" name="Shape 20"/>
          <p:cNvSpPr/>
          <p:nvPr/>
        </p:nvSpPr>
        <p:spPr>
          <a:xfrm>
            <a:off x="4983480" y="2971800"/>
            <a:ext cx="3611880" cy="59436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64008" tIns="64008" rIns="64008" bIns="64008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Reheating  </a:t>
            </a: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billet close to rolling temperature</a:t>
            </a:r>
            <a:endParaRPr lang="en-US" sz="1150" dirty="0"/>
          </a:p>
        </p:txBody>
      </p:sp>
      <p:sp>
        <p:nvSpPr>
          <p:cNvPr id="21" name="Shape 21"/>
          <p:cNvSpPr/>
          <p:nvPr/>
        </p:nvSpPr>
        <p:spPr>
          <a:xfrm>
            <a:off x="4983480" y="3611880"/>
            <a:ext cx="3611880" cy="594360"/>
          </a:xfrm>
          <a:prstGeom prst="rect">
            <a:avLst/>
          </a:prstGeom>
          <a:solidFill>
            <a:srgbClr val="1B3A5C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64008" tIns="64008" rIns="64008" bIns="64008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Soaking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it until core and surface match, then exit at ~1130°C</a:t>
            </a:r>
            <a:endParaRPr lang="en-US" sz="1150" dirty="0"/>
          </a:p>
        </p:txBody>
      </p:sp>
      <p:sp>
        <p:nvSpPr>
          <p:cNvPr id="22" name="Text 22"/>
          <p:cNvSpPr txBox="1"/>
          <p:nvPr/>
        </p:nvSpPr>
        <p:spPr>
          <a:xfrm>
            <a:off x="4983480" y="42519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burners (1A, 1B, 2A, 2B ...) under digital control spread heat evenly.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Cobbles and safety on the mill floor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5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cobble is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69164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bar leaves its path and twists or tangles around stands and guides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stops, guides and rolls get damaged and the steel becomes scrap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at the finishing end, where the bar moves fastest</a:t>
            </a:r>
            <a:endParaRPr lang="en-US" sz="1150" dirty="0"/>
          </a:p>
        </p:txBody>
      </p:sp>
      <p:sp>
        <p:nvSpPr>
          <p:cNvPr id="8" name="Text 8"/>
          <p:cNvSpPr txBox="1"/>
          <p:nvPr/>
        </p:nvSpPr>
        <p:spPr>
          <a:xfrm>
            <a:off x="32918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causes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3291840" y="169164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misalignment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roll gap setting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variation in the bar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or tension mismatch between stands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Worn rolls</a:t>
            </a:r>
            <a:endParaRPr lang="en-US" sz="1150" dirty="0"/>
          </a:p>
        </p:txBody>
      </p:sp>
      <p:sp>
        <p:nvSpPr>
          <p:cNvPr id="10" name="Text 10"/>
          <p:cNvSpPr txBox="1"/>
          <p:nvPr/>
        </p:nvSpPr>
        <p:spPr>
          <a:xfrm>
            <a:off x="60350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risk is controlled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603504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guide setting and regular roll checks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speed matching and tension control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PPE: helmet, gloves, safety shoes, goggles, ear protection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watch only from marked safe points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keeps people away from moving hot steel</a:t>
            </a:r>
            <a:endParaRPr lang="en-US" sz="1150" dirty="0"/>
          </a:p>
        </p:txBody>
      </p:sp>
      <p:sp>
        <p:nvSpPr>
          <p:cNvPr id="12" name="Shape 12"/>
          <p:cNvSpPr/>
          <p:nvPr/>
        </p:nvSpPr>
        <p:spPr>
          <a:xfrm>
            <a:off x="3154680" y="1371600"/>
            <a:ext cx="0" cy="292608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5897880" y="1371600"/>
            <a:ext cx="0" cy="292608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rolling yield is lost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5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6"/>
          <p:cNvSpPr/>
          <p:nvPr/>
        </p:nvSpPr>
        <p:spPr>
          <a:xfrm>
            <a:off x="548640" y="128016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charged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2194560" y="128016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Reheating furnace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3840480" y="128016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mill</a:t>
            </a:r>
            <a:endParaRPr lang="en-US" sz="1100" dirty="0"/>
          </a:p>
        </p:txBody>
      </p:sp>
      <p:sp>
        <p:nvSpPr>
          <p:cNvPr id="9" name="Shape 9"/>
          <p:cNvSpPr/>
          <p:nvPr/>
        </p:nvSpPr>
        <p:spPr>
          <a:xfrm>
            <a:off x="5486400" y="1280160"/>
            <a:ext cx="1463040" cy="45720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and inspection</a:t>
            </a:r>
            <a:endParaRPr lang="en-US" sz="1100" dirty="0"/>
          </a:p>
        </p:txBody>
      </p:sp>
      <p:sp>
        <p:nvSpPr>
          <p:cNvPr id="10" name="Shape 10"/>
          <p:cNvSpPr/>
          <p:nvPr/>
        </p:nvSpPr>
        <p:spPr>
          <a:xfrm>
            <a:off x="7132320" y="1280160"/>
            <a:ext cx="1463040" cy="457200"/>
          </a:xfrm>
          <a:prstGeom prst="rect">
            <a:avLst/>
          </a:prstGeom>
          <a:solidFill>
            <a:srgbClr val="1B3A5C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product</a:t>
            </a:r>
            <a:endParaRPr lang="en-US" sz="1100" dirty="0"/>
          </a:p>
        </p:txBody>
      </p:sp>
      <p:sp>
        <p:nvSpPr>
          <p:cNvPr id="11" name="Text 11"/>
          <p:cNvSpPr txBox="1"/>
          <p:nvPr/>
        </p:nvSpPr>
        <p:spPr>
          <a:xfrm>
            <a:off x="54864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000" dirty="0"/>
          </a:p>
        </p:txBody>
      </p:sp>
      <p:sp>
        <p:nvSpPr>
          <p:cNvPr id="12" name="Text 12"/>
          <p:cNvSpPr txBox="1"/>
          <p:nvPr/>
        </p:nvSpPr>
        <p:spPr>
          <a:xfrm>
            <a:off x="2194560" y="1874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000" dirty="0"/>
          </a:p>
        </p:txBody>
      </p:sp>
      <p:sp>
        <p:nvSpPr>
          <p:cNvPr id="13" name="Text 13"/>
          <p:cNvSpPr txBox="1"/>
          <p:nvPr/>
        </p:nvSpPr>
        <p:spPr>
          <a:xfrm>
            <a:off x="5394960" y="1874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REDUCE IT</a:t>
            </a:r>
            <a:endParaRPr lang="en-U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148840"/>
            <a:ext cx="8046720" cy="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548640" y="2194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loss</a:t>
            </a:r>
            <a:endParaRPr lang="en-US" sz="1150" dirty="0"/>
          </a:p>
        </p:txBody>
      </p:sp>
      <p:sp>
        <p:nvSpPr>
          <p:cNvPr id="16" name="Text 16"/>
          <p:cNvSpPr txBox="1"/>
          <p:nvPr/>
        </p:nvSpPr>
        <p:spPr>
          <a:xfrm>
            <a:off x="219456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Oxidation above 1100°C; worse with overheating or long furnace time</a:t>
            </a:r>
            <a:endParaRPr lang="en-US" sz="1150" dirty="0"/>
          </a:p>
        </p:txBody>
      </p:sp>
      <p:sp>
        <p:nvSpPr>
          <p:cNvPr id="17" name="Text 17"/>
          <p:cNvSpPr txBox="1"/>
          <p:nvPr/>
        </p:nvSpPr>
        <p:spPr>
          <a:xfrm>
            <a:off x="5394960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temperature control, correct air-fuel ratio, shorter residence time</a:t>
            </a:r>
            <a:endParaRPr lang="en-US" sz="1150" dirty="0"/>
          </a:p>
        </p:txBody>
      </p:sp>
      <p:sp>
        <p:nvSpPr>
          <p:cNvPr id="18" name="Shape 18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548640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</a:t>
            </a:r>
            <a:endParaRPr lang="en-US" sz="1150" dirty="0"/>
          </a:p>
        </p:txBody>
      </p:sp>
      <p:sp>
        <p:nvSpPr>
          <p:cNvPr id="20" name="Text 20"/>
          <p:cNvSpPr txBox="1"/>
          <p:nvPr/>
        </p:nvSpPr>
        <p:spPr>
          <a:xfrm>
            <a:off x="2194560" y="2743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head and tail ends cut off by crop shears</a:t>
            </a:r>
            <a:endParaRPr lang="en-US" sz="1150" dirty="0"/>
          </a:p>
        </p:txBody>
      </p:sp>
      <p:sp>
        <p:nvSpPr>
          <p:cNvPr id="21" name="Text 21"/>
          <p:cNvSpPr txBox="1"/>
          <p:nvPr/>
        </p:nvSpPr>
        <p:spPr>
          <a:xfrm>
            <a:off x="5394960" y="2743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billet length, sensor-timed shears, better roll pass design</a:t>
            </a:r>
            <a:endParaRPr lang="en-US" sz="1150" dirty="0"/>
          </a:p>
        </p:txBody>
      </p:sp>
      <p:sp>
        <p:nvSpPr>
          <p:cNvPr id="22" name="Shape 22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548640" y="3291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Cobble loss</a:t>
            </a:r>
            <a:endParaRPr lang="en-US" sz="1150" dirty="0"/>
          </a:p>
        </p:txBody>
      </p:sp>
      <p:sp>
        <p:nvSpPr>
          <p:cNvPr id="24" name="Text 24"/>
          <p:cNvSpPr txBox="1"/>
          <p:nvPr/>
        </p:nvSpPr>
        <p:spPr>
          <a:xfrm>
            <a:off x="2194560" y="3291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leaves its path through bad guides or speed mismatch</a:t>
            </a:r>
            <a:endParaRPr lang="en-US" sz="1150" dirty="0"/>
          </a:p>
        </p:txBody>
      </p:sp>
      <p:sp>
        <p:nvSpPr>
          <p:cNvPr id="25" name="Text 25"/>
          <p:cNvSpPr txBox="1"/>
          <p:nvPr/>
        </p:nvSpPr>
        <p:spPr>
          <a:xfrm>
            <a:off x="5394960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setting, stand speed sync, tension control, operator training</a:t>
            </a:r>
            <a:endParaRPr lang="en-US" sz="1150" dirty="0"/>
          </a:p>
        </p:txBody>
      </p:sp>
      <p:sp>
        <p:nvSpPr>
          <p:cNvPr id="26" name="Shape 26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548640" y="3840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loss</a:t>
            </a:r>
            <a:endParaRPr lang="en-US" sz="1150" dirty="0"/>
          </a:p>
        </p:txBody>
      </p:sp>
      <p:sp>
        <p:nvSpPr>
          <p:cNvPr id="28" name="Text 28"/>
          <p:cNvSpPr txBox="1"/>
          <p:nvPr/>
        </p:nvSpPr>
        <p:spPr>
          <a:xfrm>
            <a:off x="2194560" y="3840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or surface defects found at inspection</a:t>
            </a:r>
            <a:endParaRPr lang="en-US" sz="1150" dirty="0"/>
          </a:p>
        </p:txBody>
      </p:sp>
      <p:sp>
        <p:nvSpPr>
          <p:cNvPr id="29" name="Text 29"/>
          <p:cNvSpPr txBox="1"/>
          <p:nvPr/>
        </p:nvSpPr>
        <p:spPr>
          <a:xfrm>
            <a:off x="53949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SCADA, laser and pyrometer monitoring with root-cause analysis</a:t>
            </a:r>
            <a:endParaRPr lang="en-US" sz="1150" dirty="0"/>
          </a:p>
        </p:txBody>
      </p:sp>
      <p:sp>
        <p:nvSpPr>
          <p:cNvPr id="30" name="Shape 30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Reducing rolling defects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4800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&amp; Rod Mill  |  Bhilai Steel Plant, SAIL</a:t>
            </a:r>
            <a:endParaRPr lang="en-US" sz="900" dirty="0"/>
          </a:p>
        </p:txBody>
      </p:sp>
      <p:sp>
        <p:nvSpPr>
          <p:cNvPr id="5" name="Text 5"/>
          <p:cNvSpPr txBox="1"/>
          <p:nvPr/>
        </p:nvSpPr>
        <p:spPr>
          <a:xfrm>
            <a:off x="813816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defects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6916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Laps, seams, cracks, scratches, rolled-in scale, pits and scabs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poor billets, wrong reheating, damaged rolls or bad guide settings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32918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defects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3291840" y="16916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 variation, ovality, camber, twist and poor straightness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wrong roll gap, uneven deformation or stands out of sync</a:t>
            </a:r>
            <a:endParaRPr lang="en-US" sz="1200" dirty="0"/>
          </a:p>
        </p:txBody>
      </p:sp>
      <p:sp>
        <p:nvSpPr>
          <p:cNvPr id="10" name="Text 10"/>
          <p:cNvSpPr txBox="1"/>
          <p:nvPr/>
        </p:nvSpPr>
        <p:spPr>
          <a:xfrm>
            <a:off x="60350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defects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6035040" y="16916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stress, uneven grain structure, varying mechanical properties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wrong rolling temperature or uncontrolled cooling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3154680" y="1371600"/>
            <a:ext cx="0" cy="21031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5897880" y="1371600"/>
            <a:ext cx="0" cy="2103120"/>
          </a:xfrm>
          <a:prstGeom prst="line">
            <a:avLst/>
          </a:prstGeom>
          <a:noFill/>
          <a:ln w="12700">
            <a:solidFill>
              <a:srgbClr val="DDD6CA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548640" y="3611880"/>
            <a:ext cx="8046720" cy="777240"/>
          </a:xfrm>
          <a:prstGeom prst="rect">
            <a:avLst/>
          </a:prstGeom>
          <a:solidFill>
            <a:srgbClr val="EFEAE0"/>
          </a:solidFill>
          <a:ln w="9525">
            <a:solidFill>
              <a:srgbClr val="DDD6CA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 </a:t>
            </a: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AGC resets the roll gap from laser gauges. Pyrometers track temperature. Machine vision checks the surface at full speed. SPC keeps variation within limits. PLC-controlled TMT cooling holds water flow, pressure and time steady.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1571</Words>
  <Application>Microsoft Office PowerPoint</Application>
  <PresentationFormat>On-screen Show (16:9)</PresentationFormat>
  <Paragraphs>235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 and Process Optimization of Bar and Rod Mill</dc:title>
  <dc:subject>PptxGenJS Presentation</dc:subject>
  <dc:creator>Priyansh Agrawal</dc:creator>
  <cp:lastModifiedBy>ansh khandwe</cp:lastModifiedBy>
  <cp:revision>2</cp:revision>
  <dcterms:created xsi:type="dcterms:W3CDTF">2026-10-29T17:37:26Z</dcterms:created>
  <dcterms:modified xsi:type="dcterms:W3CDTF">2026-10-29T17:57:35Z</dcterms:modified>
</cp:coreProperties>
</file>